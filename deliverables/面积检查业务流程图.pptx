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88" d="100"/>
          <a:sy n="88" d="100"/>
        </p:scale>
        <p:origin x="72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-1">
            <a:extLst>
              <a:ext uri="{FF2B5EF4-FFF2-40B4-BE49-F238E27FC236}">
                <a16:creationId xmlns:a16="http://schemas.microsoft.com/office/drawing/2014/main" id="{4054FACB-ABEA-4645-AFF5-A0EE779A5A1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057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18"/>
          </a:bodyPr>
          <a:lstStyle/>
          <a:p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面积检查主流程：任务下发后逐站点完成检查判定</a:t>
            </a:r>
          </a:p>
        </p:txBody>
      </p:sp>
      <p:sp>
        <p:nvSpPr>
          <p:cNvPr id="2" name="subtitle-1">
            <a:extLst>
              <a:ext uri="{FF2B5EF4-FFF2-40B4-BE49-F238E27FC236}">
                <a16:creationId xmlns:a16="http://schemas.microsoft.com/office/drawing/2014/main" id="{DFBB9037-4C23-476A-AFC4-A5EF2F8B7633}"/>
              </a:ext>
            </a:extLst>
          </p:cNvPr>
          <p:cNvSpPr>
            <a:spLocks noGrp="1"/>
          </p:cNvSpPr>
          <p:nvPr/>
        </p:nvSpPr>
        <p:spPr>
          <a:xfrm>
            <a:off x="419100" y="74295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96"/>
          </a:bodyPr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主链路覆盖任务创建、专家确认、现场检查以及合格／整改分流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622E475D-CD57-465F-B63A-2C32897D75D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lane-任务管理人员">
            <a:extLst>
              <a:ext uri="{FF2B5EF4-FFF2-40B4-BE49-F238E27FC236}">
                <a16:creationId xmlns:a16="http://schemas.microsoft.com/office/drawing/2014/main" id="{7219E59C-FC45-44F5-8D26-04ECD08BDD8F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1391900" cy="1619250"/>
          </a:xfrm>
          <a:prstGeom prst="rect">
            <a:avLst/>
          </a:prstGeom>
          <a:solidFill>
            <a:srgbClr val="F7FA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ane-bar-任务管理人员">
            <a:extLst>
              <a:ext uri="{FF2B5EF4-FFF2-40B4-BE49-F238E27FC236}">
                <a16:creationId xmlns:a16="http://schemas.microsoft.com/office/drawing/2014/main" id="{93868730-7ECF-456B-8C64-D66EBBA8E1E1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76200" cy="16192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ane-label-任务管理人员">
            <a:extLst>
              <a:ext uri="{FF2B5EF4-FFF2-40B4-BE49-F238E27FC236}">
                <a16:creationId xmlns:a16="http://schemas.microsoft.com/office/drawing/2014/main" id="{A51F8C9C-0684-49AC-877F-4C2A9F129F32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任务管理人员</a:t>
            </a:r>
          </a:p>
        </p:txBody>
      </p:sp>
      <p:sp>
        <p:nvSpPr>
          <p:cNvPr id="7" name="lane-检查专家">
            <a:extLst>
              <a:ext uri="{FF2B5EF4-FFF2-40B4-BE49-F238E27FC236}">
                <a16:creationId xmlns:a16="http://schemas.microsoft.com/office/drawing/2014/main" id="{50F7348F-F74E-4C3D-9FF3-97ABA4167DCD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11391900" cy="333375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ane-bar-检查专家">
            <a:extLst>
              <a:ext uri="{FF2B5EF4-FFF2-40B4-BE49-F238E27FC236}">
                <a16:creationId xmlns:a16="http://schemas.microsoft.com/office/drawing/2014/main" id="{8387865E-D963-4550-B162-C9885BBB90F3}"/>
              </a:ext>
            </a:extLst>
          </p:cNvPr>
          <p:cNvSpPr>
            <a:spLocks noGrp="1"/>
          </p:cNvSpPr>
          <p:nvPr/>
        </p:nvSpPr>
        <p:spPr>
          <a:xfrm>
            <a:off x="400049" y="2952749"/>
            <a:ext cx="109537" cy="3333749"/>
          </a:xfrm>
          <a:prstGeom prst="rect">
            <a:avLst/>
          </a:prstGeom>
          <a:solidFill>
            <a:srgbClr val="4B5563"/>
          </a:solidFill>
          <a:ln w="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ane-label-检查专家">
            <a:extLst>
              <a:ext uri="{FF2B5EF4-FFF2-40B4-BE49-F238E27FC236}">
                <a16:creationId xmlns:a16="http://schemas.microsoft.com/office/drawing/2014/main" id="{2200B20F-3402-457D-BCA3-DC68067061C9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检查专家</a:t>
            </a:r>
          </a:p>
        </p:txBody>
      </p:sp>
      <p:sp>
        <p:nvSpPr>
          <p:cNvPr id="10" name="task-create">
            <a:extLst>
              <a:ext uri="{FF2B5EF4-FFF2-40B4-BE49-F238E27FC236}">
                <a16:creationId xmlns:a16="http://schemas.microsoft.com/office/drawing/2014/main" id="{04B25644-AA6A-4015-B83A-1FA1579CEA8E}"/>
              </a:ext>
            </a:extLst>
          </p:cNvPr>
          <p:cNvSpPr>
            <a:spLocks noGrp="1"/>
          </p:cNvSpPr>
          <p:nvPr/>
        </p:nvSpPr>
        <p:spPr>
          <a:xfrm>
            <a:off x="2000250" y="1619250"/>
            <a:ext cx="1428750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创建任务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设置周期与范围</a:t>
            </a:r>
          </a:p>
        </p:txBody>
      </p:sp>
      <p:sp>
        <p:nvSpPr>
          <p:cNvPr id="11" name="task-sites">
            <a:extLst>
              <a:ext uri="{FF2B5EF4-FFF2-40B4-BE49-F238E27FC236}">
                <a16:creationId xmlns:a16="http://schemas.microsoft.com/office/drawing/2014/main" id="{FEF64BD1-437C-46B3-B317-9EF72A2D7682}"/>
              </a:ext>
            </a:extLst>
          </p:cNvPr>
          <p:cNvSpPr>
            <a:spLocks noGrp="1"/>
          </p:cNvSpPr>
          <p:nvPr/>
        </p:nvSpPr>
        <p:spPr>
          <a:xfrm>
            <a:off x="3857625" y="1619250"/>
            <a:ext cx="1428750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选择站点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形成检查清单</a:t>
            </a:r>
          </a:p>
        </p:txBody>
      </p:sp>
      <p:sp>
        <p:nvSpPr>
          <p:cNvPr id="12" name="task-assign">
            <a:extLst>
              <a:ext uri="{FF2B5EF4-FFF2-40B4-BE49-F238E27FC236}">
                <a16:creationId xmlns:a16="http://schemas.microsoft.com/office/drawing/2014/main" id="{F9C787A1-9404-4D9C-9782-D0DE4A63283C}"/>
              </a:ext>
            </a:extLst>
          </p:cNvPr>
          <p:cNvSpPr>
            <a:spLocks noGrp="1"/>
          </p:cNvSpPr>
          <p:nvPr/>
        </p:nvSpPr>
        <p:spPr>
          <a:xfrm>
            <a:off x="5715000" y="1619250"/>
            <a:ext cx="1428750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分配专家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填满全部槽位</a:t>
            </a:r>
          </a:p>
        </p:txBody>
      </p:sp>
      <p:sp>
        <p:nvSpPr>
          <p:cNvPr id="13" name="task-all-assigned">
            <a:extLst>
              <a:ext uri="{FF2B5EF4-FFF2-40B4-BE49-F238E27FC236}">
                <a16:creationId xmlns:a16="http://schemas.microsoft.com/office/drawing/2014/main" id="{4AB29BAB-587E-4154-B790-45C4116BB94A}"/>
              </a:ext>
            </a:extLst>
          </p:cNvPr>
          <p:cNvSpPr>
            <a:spLocks noGrp="1"/>
          </p:cNvSpPr>
          <p:nvPr/>
        </p:nvSpPr>
        <p:spPr>
          <a:xfrm>
            <a:off x="7620000" y="1495425"/>
            <a:ext cx="1104900" cy="93345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 fontScale="79166"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分配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完成？</a:t>
            </a:r>
          </a:p>
        </p:txBody>
      </p:sp>
      <p:sp>
        <p:nvSpPr>
          <p:cNvPr id="14" name="task-submit">
            <a:extLst>
              <a:ext uri="{FF2B5EF4-FFF2-40B4-BE49-F238E27FC236}">
                <a16:creationId xmlns:a16="http://schemas.microsoft.com/office/drawing/2014/main" id="{82B93235-78AF-4935-A9D1-C12C19E5FDE1}"/>
              </a:ext>
            </a:extLst>
          </p:cNvPr>
          <p:cNvSpPr>
            <a:spLocks noGrp="1"/>
          </p:cNvSpPr>
          <p:nvPr/>
        </p:nvSpPr>
        <p:spPr>
          <a:xfrm>
            <a:off x="9239250" y="1619250"/>
            <a:ext cx="1524000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提交并下发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状态：待确认</a:t>
            </a:r>
          </a:p>
        </p:txBody>
      </p:sp>
      <p:sp>
        <p:nvSpPr>
          <p:cNvPr id="15" name="expert-confirm">
            <a:extLst>
              <a:ext uri="{FF2B5EF4-FFF2-40B4-BE49-F238E27FC236}">
                <a16:creationId xmlns:a16="http://schemas.microsoft.com/office/drawing/2014/main" id="{83112398-FEE4-4896-8045-58994F6F41F6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5240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专家确认任务</a:t>
            </a:r>
          </a:p>
        </p:txBody>
      </p:sp>
      <p:sp>
        <p:nvSpPr>
          <p:cNvPr id="16" name="expert-accept">
            <a:extLst>
              <a:ext uri="{FF2B5EF4-FFF2-40B4-BE49-F238E27FC236}">
                <a16:creationId xmlns:a16="http://schemas.microsoft.com/office/drawing/2014/main" id="{4C532DC5-0C9B-49B4-82FC-C2BDD39C589D}"/>
              </a:ext>
            </a:extLst>
          </p:cNvPr>
          <p:cNvSpPr>
            <a:spLocks noGrp="1"/>
          </p:cNvSpPr>
          <p:nvPr/>
        </p:nvSpPr>
        <p:spPr>
          <a:xfrm>
            <a:off x="7334250" y="3390900"/>
            <a:ext cx="1476375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接受任务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状态：待开始</a:t>
            </a:r>
          </a:p>
        </p:txBody>
      </p:sp>
      <p:sp>
        <p:nvSpPr>
          <p:cNvPr id="17" name="expert-start">
            <a:extLst>
              <a:ext uri="{FF2B5EF4-FFF2-40B4-BE49-F238E27FC236}">
                <a16:creationId xmlns:a16="http://schemas.microsoft.com/office/drawing/2014/main" id="{EDA5EDD8-3036-40AA-93D8-59B7B74AD772}"/>
              </a:ext>
            </a:extLst>
          </p:cNvPr>
          <p:cNvSpPr>
            <a:spLocks noGrp="1"/>
          </p:cNvSpPr>
          <p:nvPr/>
        </p:nvSpPr>
        <p:spPr>
          <a:xfrm>
            <a:off x="5429250" y="3390900"/>
            <a:ext cx="1476375" cy="685800"/>
          </a:xfrm>
          <a:prstGeom prst="roundRect">
            <a:avLst>
              <a:gd name="adj" fmla="val 13889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开始检查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状态：进行中</a:t>
            </a:r>
          </a:p>
        </p:txBody>
      </p:sp>
      <p:sp>
        <p:nvSpPr>
          <p:cNvPr id="18" name="expert-site">
            <a:extLst>
              <a:ext uri="{FF2B5EF4-FFF2-40B4-BE49-F238E27FC236}">
                <a16:creationId xmlns:a16="http://schemas.microsoft.com/office/drawing/2014/main" id="{4C328853-0FF4-48ED-B25D-2EC85B8978DA}"/>
              </a:ext>
            </a:extLst>
          </p:cNvPr>
          <p:cNvSpPr>
            <a:spLocks noGrp="1"/>
          </p:cNvSpPr>
          <p:nvPr/>
        </p:nvSpPr>
        <p:spPr>
          <a:xfrm>
            <a:off x="3524250" y="3390900"/>
            <a:ext cx="147637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进入站点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核对面积与资料</a:t>
            </a:r>
          </a:p>
        </p:txBody>
      </p:sp>
      <p:sp>
        <p:nvSpPr>
          <p:cNvPr id="19" name="expert-record">
            <a:extLst>
              <a:ext uri="{FF2B5EF4-FFF2-40B4-BE49-F238E27FC236}">
                <a16:creationId xmlns:a16="http://schemas.microsoft.com/office/drawing/2014/main" id="{CEBB398C-A935-4D48-9D9D-3F5224554DC4}"/>
              </a:ext>
            </a:extLst>
          </p:cNvPr>
          <p:cNvSpPr>
            <a:spLocks noGrp="1"/>
          </p:cNvSpPr>
          <p:nvPr/>
        </p:nvSpPr>
        <p:spPr>
          <a:xfrm>
            <a:off x="1619250" y="3390900"/>
            <a:ext cx="15240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填写检查记录单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提交并确认签字</a:t>
            </a:r>
          </a:p>
        </p:txBody>
      </p:sp>
      <p:sp>
        <p:nvSpPr>
          <p:cNvPr id="20" name="expert-failed">
            <a:extLst>
              <a:ext uri="{FF2B5EF4-FFF2-40B4-BE49-F238E27FC236}">
                <a16:creationId xmlns:a16="http://schemas.microsoft.com/office/drawing/2014/main" id="{5513B91A-204E-4C3B-BC09-47D079092B90}"/>
              </a:ext>
            </a:extLst>
          </p:cNvPr>
          <p:cNvSpPr>
            <a:spLocks noGrp="1"/>
          </p:cNvSpPr>
          <p:nvPr/>
        </p:nvSpPr>
        <p:spPr>
          <a:xfrm>
            <a:off x="1814513" y="4661535"/>
            <a:ext cx="1123950" cy="6477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 fontScale="73684" lnSpcReduction="20000"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有不合格项</a:t>
            </a: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21" name="site-passed">
            <a:extLst>
              <a:ext uri="{FF2B5EF4-FFF2-40B4-BE49-F238E27FC236}">
                <a16:creationId xmlns:a16="http://schemas.microsoft.com/office/drawing/2014/main" id="{BCA3ACD7-E6E6-419D-B4A2-CF47C62BE1BC}"/>
              </a:ext>
            </a:extLst>
          </p:cNvPr>
          <p:cNvSpPr>
            <a:spLocks noGrp="1"/>
          </p:cNvSpPr>
          <p:nvPr/>
        </p:nvSpPr>
        <p:spPr>
          <a:xfrm>
            <a:off x="3900488" y="4676775"/>
            <a:ext cx="1571625" cy="609600"/>
          </a:xfrm>
          <a:prstGeom prst="roundRect">
            <a:avLst>
              <a:gd name="adj" fmla="val 15625"/>
            </a:avLst>
          </a:prstGeom>
          <a:solidFill>
            <a:srgbClr val="ECFDF3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检查合格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站点：已检查</a:t>
            </a:r>
          </a:p>
        </p:txBody>
      </p:sp>
      <p:sp>
        <p:nvSpPr>
          <p:cNvPr id="22" name="site-rectify">
            <a:extLst>
              <a:ext uri="{FF2B5EF4-FFF2-40B4-BE49-F238E27FC236}">
                <a16:creationId xmlns:a16="http://schemas.microsoft.com/office/drawing/2014/main" id="{137EBEE0-B073-4C88-93DE-3D3F8D01CCA0}"/>
              </a:ext>
            </a:extLst>
          </p:cNvPr>
          <p:cNvSpPr>
            <a:spLocks noGrp="1"/>
          </p:cNvSpPr>
          <p:nvPr/>
        </p:nvSpPr>
        <p:spPr>
          <a:xfrm>
            <a:off x="3857625" y="5647673"/>
            <a:ext cx="1714500" cy="609600"/>
          </a:xfrm>
          <a:prstGeom prst="roundRect">
            <a:avLst>
              <a:gd name="adj" fmla="val 15625"/>
            </a:avLst>
          </a:prstGeom>
          <a:solidFill>
            <a:srgbClr val="FFF7E6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提交整改通知书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站点：待整改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ite-loop">
            <a:extLst>
              <a:ext uri="{FF2B5EF4-FFF2-40B4-BE49-F238E27FC236}">
                <a16:creationId xmlns:a16="http://schemas.microsoft.com/office/drawing/2014/main" id="{77F256EF-1C14-4BAD-826F-FB829459B44D}"/>
              </a:ext>
            </a:extLst>
          </p:cNvPr>
          <p:cNvSpPr>
            <a:spLocks noGrp="1"/>
          </p:cNvSpPr>
          <p:nvPr/>
        </p:nvSpPr>
        <p:spPr>
          <a:xfrm>
            <a:off x="7239000" y="4686300"/>
            <a:ext cx="1123950" cy="600075"/>
          </a:xfrm>
          <a:prstGeom prst="diamond">
            <a:avLst/>
          </a:prstGeom>
          <a:solidFill>
            <a:srgbClr val="FFFFFF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 fontScale="66184" lnSpcReduction="20000"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站点全完成？</a:t>
            </a:r>
          </a:p>
        </p:txBody>
      </p:sp>
      <p:sp>
        <p:nvSpPr>
          <p:cNvPr id="24" name="task-end">
            <a:extLst>
              <a:ext uri="{FF2B5EF4-FFF2-40B4-BE49-F238E27FC236}">
                <a16:creationId xmlns:a16="http://schemas.microsoft.com/office/drawing/2014/main" id="{C2EB8F22-5487-49AA-BA76-A67B5CBC2DBF}"/>
              </a:ext>
            </a:extLst>
          </p:cNvPr>
          <p:cNvSpPr>
            <a:spLocks noGrp="1"/>
          </p:cNvSpPr>
          <p:nvPr/>
        </p:nvSpPr>
        <p:spPr>
          <a:xfrm>
            <a:off x="9467850" y="4651375"/>
            <a:ext cx="1476375" cy="685800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任务结束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状态：已结束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2" name="直线箭头连接符 71"/>
          <p:cNvCxnSpPr>
            <a:stCxn id="10" idx="3"/>
            <a:endCxn id="11" idx="1"/>
          </p:cNvCxnSpPr>
          <p:nvPr/>
        </p:nvCxnSpPr>
        <p:spPr>
          <a:xfrm>
            <a:off x="3429000" y="1962150"/>
            <a:ext cx="4286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3" name="直线箭头连接符 72"/>
          <p:cNvCxnSpPr>
            <a:stCxn id="11" idx="3"/>
            <a:endCxn id="12" idx="1"/>
          </p:cNvCxnSpPr>
          <p:nvPr/>
        </p:nvCxnSpPr>
        <p:spPr>
          <a:xfrm>
            <a:off x="5286375" y="1962150"/>
            <a:ext cx="4286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4" name="直线箭头连接符 73"/>
          <p:cNvCxnSpPr>
            <a:stCxn id="12" idx="3"/>
            <a:endCxn id="13" idx="1"/>
          </p:cNvCxnSpPr>
          <p:nvPr/>
        </p:nvCxnSpPr>
        <p:spPr>
          <a:xfrm>
            <a:off x="7143750" y="1962150"/>
            <a:ext cx="4762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5" name="直线箭头连接符 74"/>
          <p:cNvCxnSpPr>
            <a:stCxn id="13" idx="3"/>
            <a:endCxn id="14" idx="1"/>
          </p:cNvCxnSpPr>
          <p:nvPr/>
        </p:nvCxnSpPr>
        <p:spPr>
          <a:xfrm>
            <a:off x="8724900" y="1962150"/>
            <a:ext cx="5143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6" name="肘形连接符 75"/>
          <p:cNvCxnSpPr>
            <a:stCxn id="13" idx="2"/>
            <a:endCxn id="12" idx="2"/>
          </p:cNvCxnSpPr>
          <p:nvPr/>
        </p:nvCxnSpPr>
        <p:spPr>
          <a:xfrm flipH="1" flipV="1">
            <a:off x="6429375" y="2305050"/>
            <a:ext cx="1743075" cy="123825"/>
          </a:xfrm>
          <a:prstGeom prst="bentConnector4">
            <a:avLst>
              <a:gd name="adj1" fmla="val 0"/>
              <a:gd name="adj2" fmla="val -216913"/>
            </a:avLst>
          </a:prstGeom>
          <a:ln w="19050">
            <a:solidFill>
              <a:srgbClr val="3D8DFF"/>
            </a:solidFill>
            <a:prstDash val="dash"/>
            <a:tailEnd type="triangle" w="sm" len="sm"/>
          </a:ln>
        </p:spPr>
      </p:cxnSp>
      <p:cxnSp>
        <p:nvCxnSpPr>
          <p:cNvPr id="77" name="直线箭头连接符 76"/>
          <p:cNvCxnSpPr>
            <a:stCxn id="14" idx="2"/>
            <a:endCxn id="15" idx="0"/>
          </p:cNvCxnSpPr>
          <p:nvPr/>
        </p:nvCxnSpPr>
        <p:spPr>
          <a:xfrm>
            <a:off x="10001250" y="2305050"/>
            <a:ext cx="0" cy="112395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8" name="直线箭头连接符 77"/>
          <p:cNvCxnSpPr>
            <a:stCxn id="15" idx="1"/>
            <a:endCxn id="16" idx="3"/>
          </p:cNvCxnSpPr>
          <p:nvPr/>
        </p:nvCxnSpPr>
        <p:spPr>
          <a:xfrm flipH="1">
            <a:off x="8810625" y="3733800"/>
            <a:ext cx="4286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9" name="直线箭头连接符 78"/>
          <p:cNvCxnSpPr>
            <a:stCxn id="16" idx="1"/>
            <a:endCxn id="17" idx="3"/>
          </p:cNvCxnSpPr>
          <p:nvPr/>
        </p:nvCxnSpPr>
        <p:spPr>
          <a:xfrm flipH="1">
            <a:off x="6905625" y="3733800"/>
            <a:ext cx="4286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0" name="直线箭头连接符 79"/>
          <p:cNvCxnSpPr>
            <a:stCxn id="17" idx="1"/>
            <a:endCxn id="18" idx="3"/>
          </p:cNvCxnSpPr>
          <p:nvPr/>
        </p:nvCxnSpPr>
        <p:spPr>
          <a:xfrm flipH="1">
            <a:off x="5000625" y="3733800"/>
            <a:ext cx="428625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1" name="直线箭头连接符 80"/>
          <p:cNvCxnSpPr>
            <a:stCxn id="18" idx="1"/>
            <a:endCxn id="19" idx="3"/>
          </p:cNvCxnSpPr>
          <p:nvPr/>
        </p:nvCxnSpPr>
        <p:spPr>
          <a:xfrm flipH="1">
            <a:off x="3143250" y="3733800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2" name="肘形连接符 81"/>
          <p:cNvCxnSpPr>
            <a:cxnSpLocks/>
            <a:stCxn id="19" idx="2"/>
            <a:endCxn id="20" idx="0"/>
          </p:cNvCxnSpPr>
          <p:nvPr/>
        </p:nvCxnSpPr>
        <p:spPr>
          <a:xfrm rot="5400000">
            <a:off x="2086452" y="4366736"/>
            <a:ext cx="584835" cy="4762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83" name="肘形连接符 82"/>
          <p:cNvCxnSpPr>
            <a:cxnSpLocks/>
            <a:stCxn id="20" idx="3"/>
            <a:endCxn id="21" idx="1"/>
          </p:cNvCxnSpPr>
          <p:nvPr/>
        </p:nvCxnSpPr>
        <p:spPr>
          <a:xfrm flipV="1">
            <a:off x="2938463" y="4981575"/>
            <a:ext cx="962025" cy="3810"/>
          </a:xfrm>
          <a:prstGeom prst="bentConnector3">
            <a:avLst>
              <a:gd name="adj1" fmla="val 50000"/>
            </a:avLst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84" name="肘形连接符 83"/>
          <p:cNvCxnSpPr>
            <a:cxnSpLocks/>
            <a:stCxn id="20" idx="2"/>
            <a:endCxn id="22" idx="1"/>
          </p:cNvCxnSpPr>
          <p:nvPr/>
        </p:nvCxnSpPr>
        <p:spPr>
          <a:xfrm rot="16200000" flipH="1">
            <a:off x="2795437" y="4890285"/>
            <a:ext cx="643238" cy="1481137"/>
          </a:xfrm>
          <a:prstGeom prst="bentConnector2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85" name="肘形连接符 84"/>
          <p:cNvCxnSpPr>
            <a:cxnSpLocks/>
            <a:stCxn id="21" idx="3"/>
            <a:endCxn id="23" idx="1"/>
          </p:cNvCxnSpPr>
          <p:nvPr/>
        </p:nvCxnSpPr>
        <p:spPr>
          <a:xfrm>
            <a:off x="5472113" y="4981575"/>
            <a:ext cx="1766887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86" name="肘形连接符 85"/>
          <p:cNvCxnSpPr>
            <a:cxnSpLocks/>
            <a:stCxn id="22" idx="3"/>
            <a:endCxn id="23" idx="2"/>
          </p:cNvCxnSpPr>
          <p:nvPr/>
        </p:nvCxnSpPr>
        <p:spPr>
          <a:xfrm flipV="1">
            <a:off x="5572125" y="5286375"/>
            <a:ext cx="2228850" cy="666098"/>
          </a:xfrm>
          <a:prstGeom prst="bentConnector2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87" name="直线箭头连接符 86"/>
          <p:cNvCxnSpPr>
            <a:cxnSpLocks/>
            <a:stCxn id="23" idx="3"/>
            <a:endCxn id="24" idx="1"/>
          </p:cNvCxnSpPr>
          <p:nvPr/>
        </p:nvCxnSpPr>
        <p:spPr>
          <a:xfrm>
            <a:off x="8362950" y="4986338"/>
            <a:ext cx="1104900" cy="7937"/>
          </a:xfrm>
          <a:prstGeom prst="straightConnector1">
            <a:avLst/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88" name="肘形连接符 87"/>
          <p:cNvCxnSpPr>
            <a:cxnSpLocks/>
            <a:stCxn id="23" idx="0"/>
            <a:endCxn id="18" idx="2"/>
          </p:cNvCxnSpPr>
          <p:nvPr/>
        </p:nvCxnSpPr>
        <p:spPr>
          <a:xfrm rot="16200000" flipV="1">
            <a:off x="5726907" y="2612231"/>
            <a:ext cx="609600" cy="3538537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dash"/>
            <a:tailEnd type="triangle" w="sm" len="sm"/>
          </a:ln>
        </p:spPr>
      </p:cxnSp>
      <p:sp>
        <p:nvSpPr>
          <p:cNvPr id="42" name="assigned-yes">
            <a:extLst>
              <a:ext uri="{FF2B5EF4-FFF2-40B4-BE49-F238E27FC236}">
                <a16:creationId xmlns:a16="http://schemas.microsoft.com/office/drawing/2014/main" id="{C291363B-2C95-48F2-9909-8F7466101067}"/>
              </a:ext>
            </a:extLst>
          </p:cNvPr>
          <p:cNvSpPr>
            <a:spLocks noGrp="1"/>
          </p:cNvSpPr>
          <p:nvPr/>
        </p:nvSpPr>
        <p:spPr>
          <a:xfrm>
            <a:off x="8810625" y="16954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是</a:t>
            </a:r>
          </a:p>
        </p:txBody>
      </p:sp>
      <p:sp>
        <p:nvSpPr>
          <p:cNvPr id="43" name="assigned-no">
            <a:extLst>
              <a:ext uri="{FF2B5EF4-FFF2-40B4-BE49-F238E27FC236}">
                <a16:creationId xmlns:a16="http://schemas.microsoft.com/office/drawing/2014/main" id="{E767F704-6A21-4462-9DAC-B7C67554405F}"/>
              </a:ext>
            </a:extLst>
          </p:cNvPr>
          <p:cNvSpPr>
            <a:spLocks noGrp="1"/>
          </p:cNvSpPr>
          <p:nvPr/>
        </p:nvSpPr>
        <p:spPr>
          <a:xfrm>
            <a:off x="7067550" y="24765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否</a:t>
            </a:r>
          </a:p>
        </p:txBody>
      </p:sp>
      <p:sp>
        <p:nvSpPr>
          <p:cNvPr id="44" name="failed-no">
            <a:extLst>
              <a:ext uri="{FF2B5EF4-FFF2-40B4-BE49-F238E27FC236}">
                <a16:creationId xmlns:a16="http://schemas.microsoft.com/office/drawing/2014/main" id="{49C19995-C981-477D-83DF-6615CDCB435C}"/>
              </a:ext>
            </a:extLst>
          </p:cNvPr>
          <p:cNvSpPr>
            <a:spLocks noGrp="1"/>
          </p:cNvSpPr>
          <p:nvPr/>
        </p:nvSpPr>
        <p:spPr>
          <a:xfrm>
            <a:off x="3224213" y="4705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500" lnSpcReduction="10000"/>
          </a:bodyPr>
          <a:lstStyle/>
          <a:p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6A34A"/>
                </a:solidFill>
                <a:latin typeface="Arial"/>
                <a:ea typeface="Arial"/>
                <a:cs typeface="Arial"/>
              </a:rPr>
              <a:t>否</a:t>
            </a:r>
            <a:endParaRPr sz="1200" b="1" dirty="0">
              <a:solidFill>
                <a:srgbClr val="16A3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failed-yes">
            <a:extLst>
              <a:ext uri="{FF2B5EF4-FFF2-40B4-BE49-F238E27FC236}">
                <a16:creationId xmlns:a16="http://schemas.microsoft.com/office/drawing/2014/main" id="{10B9C3D6-8A6A-48F5-AEDF-35552EBB044B}"/>
              </a:ext>
            </a:extLst>
          </p:cNvPr>
          <p:cNvSpPr>
            <a:spLocks noGrp="1"/>
          </p:cNvSpPr>
          <p:nvPr/>
        </p:nvSpPr>
        <p:spPr>
          <a:xfrm>
            <a:off x="2912473" y="5705474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500" lnSpcReduction="10000"/>
          </a:bodyPr>
          <a:lstStyle/>
          <a:p>
            <a:pPr algn="ctr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F59E0B"/>
                </a:solidFill>
                <a:latin typeface="Arial"/>
                <a:ea typeface="Arial"/>
                <a:cs typeface="Arial"/>
              </a:rPr>
              <a:t>是</a:t>
            </a:r>
            <a:endParaRPr sz="1200" b="1" dirty="0">
              <a:solidFill>
                <a:srgbClr val="F59E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done-yes">
            <a:extLst>
              <a:ext uri="{FF2B5EF4-FFF2-40B4-BE49-F238E27FC236}">
                <a16:creationId xmlns:a16="http://schemas.microsoft.com/office/drawing/2014/main" id="{7D7186D7-5306-4D6C-BF39-147600D746A5}"/>
              </a:ext>
            </a:extLst>
          </p:cNvPr>
          <p:cNvSpPr>
            <a:spLocks noGrp="1"/>
          </p:cNvSpPr>
          <p:nvPr/>
        </p:nvSpPr>
        <p:spPr>
          <a:xfrm>
            <a:off x="8782050" y="4933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是</a:t>
            </a:r>
          </a:p>
        </p:txBody>
      </p:sp>
      <p:sp>
        <p:nvSpPr>
          <p:cNvPr id="47" name="done-no">
            <a:extLst>
              <a:ext uri="{FF2B5EF4-FFF2-40B4-BE49-F238E27FC236}">
                <a16:creationId xmlns:a16="http://schemas.microsoft.com/office/drawing/2014/main" id="{97919FE8-59C1-469C-B811-3B274DF8C256}"/>
              </a:ext>
            </a:extLst>
          </p:cNvPr>
          <p:cNvSpPr>
            <a:spLocks noGrp="1"/>
          </p:cNvSpPr>
          <p:nvPr/>
        </p:nvSpPr>
        <p:spPr>
          <a:xfrm>
            <a:off x="6135304" y="41052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ctr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否，继续下一站点</a:t>
            </a:r>
            <a:endParaRPr sz="1200" b="1" dirty="0">
              <a:solidFill>
                <a:srgbClr val="64748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838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2">
            <a:extLst>
              <a:ext uri="{FF2B5EF4-FFF2-40B4-BE49-F238E27FC236}">
                <a16:creationId xmlns:a16="http://schemas.microsoft.com/office/drawing/2014/main" id="{A92836A7-9B72-40F4-8FAC-5696E1544BA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057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18"/>
          </a:bodyPr>
          <a:lstStyle/>
          <a:p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异常与整改闭环：驳回后统一退回整改责任人</a:t>
            </a:r>
          </a:p>
        </p:txBody>
      </p:sp>
      <p:sp>
        <p:nvSpPr>
          <p:cNvPr id="2" name="subtitle-2">
            <a:extLst>
              <a:ext uri="{FF2B5EF4-FFF2-40B4-BE49-F238E27FC236}">
                <a16:creationId xmlns:a16="http://schemas.microsoft.com/office/drawing/2014/main" id="{FB04EDE6-9319-43CB-B0C3-3F0A8D28EBA9}"/>
              </a:ext>
            </a:extLst>
          </p:cNvPr>
          <p:cNvSpPr>
            <a:spLocks noGrp="1"/>
          </p:cNvSpPr>
          <p:nvPr/>
        </p:nvSpPr>
        <p:spPr>
          <a:xfrm>
            <a:off x="419100" y="74295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96"/>
          </a:bodyPr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专家拒绝触发主任转派；整改结果依次经过主任审核和专家复查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DF7F00CF-1956-4A2C-BECF-CFAACB07B96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lane-任务转派">
            <a:extLst>
              <a:ext uri="{FF2B5EF4-FFF2-40B4-BE49-F238E27FC236}">
                <a16:creationId xmlns:a16="http://schemas.microsoft.com/office/drawing/2014/main" id="{108B0B06-3389-4B48-A6FB-24C5AAD05C67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1391900" cy="1428750"/>
          </a:xfrm>
          <a:prstGeom prst="rect">
            <a:avLst/>
          </a:prstGeom>
          <a:solidFill>
            <a:srgbClr val="FFF9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ane-bar-任务转派">
            <a:extLst>
              <a:ext uri="{FF2B5EF4-FFF2-40B4-BE49-F238E27FC236}">
                <a16:creationId xmlns:a16="http://schemas.microsoft.com/office/drawing/2014/main" id="{0826A940-171C-4A71-B9DB-8F1B0A1D46CE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76200" cy="14287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ane-label-任务转派">
            <a:extLst>
              <a:ext uri="{FF2B5EF4-FFF2-40B4-BE49-F238E27FC236}">
                <a16:creationId xmlns:a16="http://schemas.microsoft.com/office/drawing/2014/main" id="{5408C3E4-3218-4664-9682-57C987CEF377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任务转派</a:t>
            </a:r>
          </a:p>
        </p:txBody>
      </p:sp>
      <p:sp>
        <p:nvSpPr>
          <p:cNvPr id="7" name="lane-整改责任人">
            <a:extLst>
              <a:ext uri="{FF2B5EF4-FFF2-40B4-BE49-F238E27FC236}">
                <a16:creationId xmlns:a16="http://schemas.microsoft.com/office/drawing/2014/main" id="{392C3232-8E05-46DE-9893-3DDA04A309AC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11391900" cy="952500"/>
          </a:xfrm>
          <a:prstGeom prst="rect">
            <a:avLst/>
          </a:prstGeom>
          <a:solidFill>
            <a:srgbClr val="FFF9F0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ane-bar-整改责任人">
            <a:extLst>
              <a:ext uri="{FF2B5EF4-FFF2-40B4-BE49-F238E27FC236}">
                <a16:creationId xmlns:a16="http://schemas.microsoft.com/office/drawing/2014/main" id="{5D2C6721-EDB5-442B-A664-C0BAEB0510D2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76200" cy="9525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ane-label-整改责任人">
            <a:extLst>
              <a:ext uri="{FF2B5EF4-FFF2-40B4-BE49-F238E27FC236}">
                <a16:creationId xmlns:a16="http://schemas.microsoft.com/office/drawing/2014/main" id="{74ACE503-8727-4A2E-97D7-8BB232D63B73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整改责任人</a:t>
            </a:r>
          </a:p>
        </p:txBody>
      </p:sp>
      <p:sp>
        <p:nvSpPr>
          <p:cNvPr id="10" name="lane-部门主任">
            <a:extLst>
              <a:ext uri="{FF2B5EF4-FFF2-40B4-BE49-F238E27FC236}">
                <a16:creationId xmlns:a16="http://schemas.microsoft.com/office/drawing/2014/main" id="{F36E90A6-A43D-403C-B143-8AA02F4D8043}"/>
              </a:ext>
            </a:extLst>
          </p:cNvPr>
          <p:cNvSpPr>
            <a:spLocks noGrp="1"/>
          </p:cNvSpPr>
          <p:nvPr/>
        </p:nvSpPr>
        <p:spPr>
          <a:xfrm>
            <a:off x="400050" y="3886200"/>
            <a:ext cx="11391900" cy="952500"/>
          </a:xfrm>
          <a:prstGeom prst="rect">
            <a:avLst/>
          </a:prstGeom>
          <a:solidFill>
            <a:srgbClr val="F9F7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lane-bar-部门主任">
            <a:extLst>
              <a:ext uri="{FF2B5EF4-FFF2-40B4-BE49-F238E27FC236}">
                <a16:creationId xmlns:a16="http://schemas.microsoft.com/office/drawing/2014/main" id="{A95F0998-ADBE-4D24-80FD-788BCEEB6683}"/>
              </a:ext>
            </a:extLst>
          </p:cNvPr>
          <p:cNvSpPr>
            <a:spLocks noGrp="1"/>
          </p:cNvSpPr>
          <p:nvPr/>
        </p:nvSpPr>
        <p:spPr>
          <a:xfrm>
            <a:off x="400050" y="3886200"/>
            <a:ext cx="76200" cy="9525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ane-label-部门主任">
            <a:extLst>
              <a:ext uri="{FF2B5EF4-FFF2-40B4-BE49-F238E27FC236}">
                <a16:creationId xmlns:a16="http://schemas.microsoft.com/office/drawing/2014/main" id="{B87D4EE0-7C1B-42D9-9FCE-4D2B2B95A17B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b="1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管理部</a:t>
            </a:r>
            <a:r>
              <a:rPr sz="1200" b="1" dirty="0" err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主任</a:t>
            </a:r>
            <a:endParaRPr sz="1200" b="1" dirty="0">
              <a:solidFill>
                <a:srgbClr val="64748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lane-检查专家">
            <a:extLst>
              <a:ext uri="{FF2B5EF4-FFF2-40B4-BE49-F238E27FC236}">
                <a16:creationId xmlns:a16="http://schemas.microsoft.com/office/drawing/2014/main" id="{DD1F4663-EBD7-441E-BEFF-D45FE82C3529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11391900" cy="1066800"/>
          </a:xfrm>
          <a:prstGeom prst="rect">
            <a:avLst/>
          </a:prstGeom>
          <a:solidFill>
            <a:srgbClr val="F5FB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ane-bar-检查专家">
            <a:extLst>
              <a:ext uri="{FF2B5EF4-FFF2-40B4-BE49-F238E27FC236}">
                <a16:creationId xmlns:a16="http://schemas.microsoft.com/office/drawing/2014/main" id="{C12C4AB5-8740-4553-9EEF-DDEC32F12DD0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76200" cy="10668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lane-label-检查专家">
            <a:extLst>
              <a:ext uri="{FF2B5EF4-FFF2-40B4-BE49-F238E27FC236}">
                <a16:creationId xmlns:a16="http://schemas.microsoft.com/office/drawing/2014/main" id="{D9803E72-715A-49E4-9A53-0B4B5CA778FE}"/>
              </a:ext>
            </a:extLst>
          </p:cNvPr>
          <p:cNvSpPr>
            <a:spLocks noGrp="1"/>
          </p:cNvSpPr>
          <p:nvPr/>
        </p:nvSpPr>
        <p:spPr>
          <a:xfrm>
            <a:off x="590550" y="5105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检查专家</a:t>
            </a:r>
          </a:p>
        </p:txBody>
      </p:sp>
      <p:sp>
        <p:nvSpPr>
          <p:cNvPr id="16" name="transfer-reject">
            <a:extLst>
              <a:ext uri="{FF2B5EF4-FFF2-40B4-BE49-F238E27FC236}">
                <a16:creationId xmlns:a16="http://schemas.microsoft.com/office/drawing/2014/main" id="{09829CAE-9451-4989-8526-2F92FD091311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1809750" cy="628650"/>
          </a:xfrm>
          <a:prstGeom prst="roundRect">
            <a:avLst>
              <a:gd name="adj" fmla="val 15152"/>
            </a:avLst>
          </a:prstGeom>
          <a:solidFill>
            <a:srgbClr val="FFF7E6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原专家拒绝任务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填写拒绝原因</a:t>
            </a:r>
          </a:p>
        </p:txBody>
      </p:sp>
      <p:sp>
        <p:nvSpPr>
          <p:cNvPr id="17" name="transfer-reassign">
            <a:extLst>
              <a:ext uri="{FF2B5EF4-FFF2-40B4-BE49-F238E27FC236}">
                <a16:creationId xmlns:a16="http://schemas.microsoft.com/office/drawing/2014/main" id="{8A1C5209-1C50-4387-851B-9368A7B887A8}"/>
              </a:ext>
            </a:extLst>
          </p:cNvPr>
          <p:cNvSpPr>
            <a:spLocks noGrp="1"/>
          </p:cNvSpPr>
          <p:nvPr/>
        </p:nvSpPr>
        <p:spPr>
          <a:xfrm>
            <a:off x="5048250" y="1571625"/>
            <a:ext cx="1905000" cy="628650"/>
          </a:xfrm>
          <a:prstGeom prst="roundRect">
            <a:avLst>
              <a:gd name="adj" fmla="val 15152"/>
            </a:avLst>
          </a:prstGeom>
          <a:solidFill>
            <a:srgbClr val="F5F0FF"/>
          </a:solidFill>
          <a:ln w="14288">
            <a:solidFill>
              <a:srgbClr val="7C3A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主任指派新专家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不得指派原专家</a:t>
            </a:r>
          </a:p>
        </p:txBody>
      </p:sp>
      <p:sp>
        <p:nvSpPr>
          <p:cNvPr id="18" name="transfer-accepted">
            <a:extLst>
              <a:ext uri="{FF2B5EF4-FFF2-40B4-BE49-F238E27FC236}">
                <a16:creationId xmlns:a16="http://schemas.microsoft.com/office/drawing/2014/main" id="{12E8DDB8-C113-4D52-B37E-A0AA48A410F0}"/>
              </a:ext>
            </a:extLst>
          </p:cNvPr>
          <p:cNvSpPr>
            <a:spLocks noGrp="1"/>
          </p:cNvSpPr>
          <p:nvPr/>
        </p:nvSpPr>
        <p:spPr>
          <a:xfrm>
            <a:off x="8096250" y="1571625"/>
            <a:ext cx="1905000" cy="628650"/>
          </a:xfrm>
          <a:prstGeom prst="roundRect">
            <a:avLst>
              <a:gd name="adj" fmla="val 15152"/>
            </a:avLst>
          </a:prstGeom>
          <a:solidFill>
            <a:srgbClr val="EAF3FF"/>
          </a:solidFill>
          <a:ln w="14288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新专家默认已确认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状态：待开始</a:t>
            </a:r>
          </a:p>
        </p:txBody>
      </p:sp>
      <p:sp>
        <p:nvSpPr>
          <p:cNvPr id="19" name="rectify-receive">
            <a:extLst>
              <a:ext uri="{FF2B5EF4-FFF2-40B4-BE49-F238E27FC236}">
                <a16:creationId xmlns:a16="http://schemas.microsoft.com/office/drawing/2014/main" id="{2D6D60EA-F5A4-43F7-A6D8-D944A0687302}"/>
              </a:ext>
            </a:extLst>
          </p:cNvPr>
          <p:cNvSpPr>
            <a:spLocks noGrp="1"/>
          </p:cNvSpPr>
          <p:nvPr/>
        </p:nvSpPr>
        <p:spPr>
          <a:xfrm>
            <a:off x="2095500" y="293370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FFF7E6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接收整改任务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状态：待整改</a:t>
            </a:r>
          </a:p>
        </p:txBody>
      </p:sp>
      <p:sp>
        <p:nvSpPr>
          <p:cNvPr id="20" name="rectify-fix">
            <a:extLst>
              <a:ext uri="{FF2B5EF4-FFF2-40B4-BE49-F238E27FC236}">
                <a16:creationId xmlns:a16="http://schemas.microsoft.com/office/drawing/2014/main" id="{09F987F8-C684-46F3-82AE-331DE7C153FB}"/>
              </a:ext>
            </a:extLst>
          </p:cNvPr>
          <p:cNvSpPr>
            <a:spLocks noGrp="1"/>
          </p:cNvSpPr>
          <p:nvPr/>
        </p:nvSpPr>
        <p:spPr>
          <a:xfrm>
            <a:off x="5048250" y="293370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FFF7E6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完成问题整改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补充证明材料</a:t>
            </a:r>
          </a:p>
        </p:txBody>
      </p:sp>
      <p:sp>
        <p:nvSpPr>
          <p:cNvPr id="21" name="rectify-submit">
            <a:extLst>
              <a:ext uri="{FF2B5EF4-FFF2-40B4-BE49-F238E27FC236}">
                <a16:creationId xmlns:a16="http://schemas.microsoft.com/office/drawing/2014/main" id="{3BFE3AE0-6191-42BD-8C53-38A76572B44D}"/>
              </a:ext>
            </a:extLst>
          </p:cNvPr>
          <p:cNvSpPr>
            <a:spLocks noGrp="1"/>
          </p:cNvSpPr>
          <p:nvPr/>
        </p:nvSpPr>
        <p:spPr>
          <a:xfrm>
            <a:off x="8096250" y="293370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FFF7E6"/>
          </a:solidFill>
          <a:ln w="14288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提交整改反馈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状态：待主任审核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director-audit">
            <a:extLst>
              <a:ext uri="{FF2B5EF4-FFF2-40B4-BE49-F238E27FC236}">
                <a16:creationId xmlns:a16="http://schemas.microsoft.com/office/drawing/2014/main" id="{83C23592-E8D2-488F-8813-EF0F91F0D0DB}"/>
              </a:ext>
            </a:extLst>
          </p:cNvPr>
          <p:cNvSpPr>
            <a:spLocks noGrp="1"/>
          </p:cNvSpPr>
          <p:nvPr/>
        </p:nvSpPr>
        <p:spPr>
          <a:xfrm>
            <a:off x="4953000" y="4057650"/>
            <a:ext cx="2095500" cy="609600"/>
          </a:xfrm>
          <a:prstGeom prst="roundRect">
            <a:avLst>
              <a:gd name="adj" fmla="val 15625"/>
            </a:avLst>
          </a:prstGeom>
          <a:solidFill>
            <a:srgbClr val="F5F0FF"/>
          </a:solidFill>
          <a:ln w="14288">
            <a:solidFill>
              <a:srgbClr val="7C3A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主任审核整改结果</a:t>
            </a:r>
          </a:p>
        </p:txBody>
      </p:sp>
      <p:sp>
        <p:nvSpPr>
          <p:cNvPr id="23" name="director-decision">
            <a:extLst>
              <a:ext uri="{FF2B5EF4-FFF2-40B4-BE49-F238E27FC236}">
                <a16:creationId xmlns:a16="http://schemas.microsoft.com/office/drawing/2014/main" id="{059B34E6-A530-47B9-8F0D-DCAEAFC9D143}"/>
              </a:ext>
            </a:extLst>
          </p:cNvPr>
          <p:cNvSpPr>
            <a:spLocks noGrp="1"/>
          </p:cNvSpPr>
          <p:nvPr/>
        </p:nvSpPr>
        <p:spPr>
          <a:xfrm>
            <a:off x="8073390" y="4091940"/>
            <a:ext cx="1571625" cy="5334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7C3A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 fontScale="73041" lnSpcReduction="20000"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审核通过</a:t>
            </a: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24" name="expert-review">
            <a:extLst>
              <a:ext uri="{FF2B5EF4-FFF2-40B4-BE49-F238E27FC236}">
                <a16:creationId xmlns:a16="http://schemas.microsoft.com/office/drawing/2014/main" id="{5A1E9833-DCC0-4148-8237-18F25268A5F1}"/>
              </a:ext>
            </a:extLst>
          </p:cNvPr>
          <p:cNvSpPr>
            <a:spLocks noGrp="1"/>
          </p:cNvSpPr>
          <p:nvPr/>
        </p:nvSpPr>
        <p:spPr>
          <a:xfrm>
            <a:off x="4953000" y="5219700"/>
            <a:ext cx="2095500" cy="609600"/>
          </a:xfrm>
          <a:prstGeom prst="roundRect">
            <a:avLst>
              <a:gd name="adj" fmla="val 15625"/>
            </a:avLst>
          </a:prstGeom>
          <a:solidFill>
            <a:srgbClr val="ECFDF3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专家复查整改结果</a:t>
            </a:r>
          </a:p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状态：待专家复查</a:t>
            </a:r>
          </a:p>
        </p:txBody>
      </p:sp>
      <p:sp>
        <p:nvSpPr>
          <p:cNvPr id="25" name="expert-decision">
            <a:extLst>
              <a:ext uri="{FF2B5EF4-FFF2-40B4-BE49-F238E27FC236}">
                <a16:creationId xmlns:a16="http://schemas.microsoft.com/office/drawing/2014/main" id="{F24F85EB-5ABE-44B8-A6A7-D86B0FEAF492}"/>
              </a:ext>
            </a:extLst>
          </p:cNvPr>
          <p:cNvSpPr>
            <a:spLocks noGrp="1"/>
          </p:cNvSpPr>
          <p:nvPr/>
        </p:nvSpPr>
        <p:spPr>
          <a:xfrm>
            <a:off x="8096250" y="5105400"/>
            <a:ext cx="1047750" cy="8382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 fontScale="73041"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复查通过？</a:t>
            </a:r>
          </a:p>
        </p:txBody>
      </p:sp>
      <p:sp>
        <p:nvSpPr>
          <p:cNvPr id="26" name="rectify-archive">
            <a:extLst>
              <a:ext uri="{FF2B5EF4-FFF2-40B4-BE49-F238E27FC236}">
                <a16:creationId xmlns:a16="http://schemas.microsoft.com/office/drawing/2014/main" id="{3939A7D5-1710-4669-BFA0-F306B7C69D09}"/>
              </a:ext>
            </a:extLst>
          </p:cNvPr>
          <p:cNvSpPr>
            <a:spLocks noGrp="1"/>
          </p:cNvSpPr>
          <p:nvPr/>
        </p:nvSpPr>
        <p:spPr>
          <a:xfrm>
            <a:off x="9810750" y="5219700"/>
            <a:ext cx="1619250" cy="609600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4288">
            <a:solidFill>
              <a:srgbClr val="16A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整改归档</a:t>
            </a:r>
          </a:p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状态：已归档</a:t>
            </a:r>
          </a:p>
        </p:txBody>
      </p:sp>
      <p:cxnSp>
        <p:nvCxnSpPr>
          <p:cNvPr id="69" name="直线箭头连接符 68"/>
          <p:cNvCxnSpPr>
            <a:stCxn id="16" idx="3"/>
            <a:endCxn id="17" idx="1"/>
          </p:cNvCxnSpPr>
          <p:nvPr/>
        </p:nvCxnSpPr>
        <p:spPr>
          <a:xfrm>
            <a:off x="3905250" y="1885950"/>
            <a:ext cx="11430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0" name="直线箭头连接符 69"/>
          <p:cNvCxnSpPr>
            <a:stCxn id="17" idx="3"/>
            <a:endCxn id="18" idx="1"/>
          </p:cNvCxnSpPr>
          <p:nvPr/>
        </p:nvCxnSpPr>
        <p:spPr>
          <a:xfrm>
            <a:off x="6953250" y="1885950"/>
            <a:ext cx="11430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1" name="直线箭头连接符 70"/>
          <p:cNvCxnSpPr>
            <a:stCxn id="19" idx="3"/>
            <a:endCxn id="20" idx="1"/>
          </p:cNvCxnSpPr>
          <p:nvPr/>
        </p:nvCxnSpPr>
        <p:spPr>
          <a:xfrm>
            <a:off x="3905250" y="3238500"/>
            <a:ext cx="11430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2" name="直线箭头连接符 71"/>
          <p:cNvCxnSpPr>
            <a:stCxn id="20" idx="3"/>
            <a:endCxn id="21" idx="1"/>
          </p:cNvCxnSpPr>
          <p:nvPr/>
        </p:nvCxnSpPr>
        <p:spPr>
          <a:xfrm>
            <a:off x="6953250" y="3238500"/>
            <a:ext cx="11430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3" name="肘形连接符 72"/>
          <p:cNvCxnSpPr>
            <a:cxnSpLocks/>
            <a:stCxn id="20" idx="2"/>
            <a:endCxn id="22" idx="0"/>
          </p:cNvCxnSpPr>
          <p:nvPr/>
        </p:nvCxnSpPr>
        <p:spPr>
          <a:xfrm rot="5400000">
            <a:off x="5743575" y="3800475"/>
            <a:ext cx="514350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74" name="直线箭头连接符 73"/>
          <p:cNvCxnSpPr>
            <a:cxnSpLocks/>
            <a:stCxn id="22" idx="3"/>
            <a:endCxn id="23" idx="1"/>
          </p:cNvCxnSpPr>
          <p:nvPr/>
        </p:nvCxnSpPr>
        <p:spPr>
          <a:xfrm flipV="1">
            <a:off x="7048500" y="4358640"/>
            <a:ext cx="1024890" cy="3810"/>
          </a:xfrm>
          <a:prstGeom prst="straightConnector1">
            <a:avLst/>
          </a:prstGeom>
          <a:ln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75" name="肘形连接符 74"/>
          <p:cNvCxnSpPr>
            <a:cxnSpLocks/>
            <a:stCxn id="23" idx="2"/>
            <a:endCxn id="24" idx="0"/>
          </p:cNvCxnSpPr>
          <p:nvPr/>
        </p:nvCxnSpPr>
        <p:spPr>
          <a:xfrm rot="5400000">
            <a:off x="7132797" y="3493294"/>
            <a:ext cx="594360" cy="2858453"/>
          </a:xfrm>
          <a:prstGeom prst="bentConnector3">
            <a:avLst>
              <a:gd name="adj1" fmla="val 50000"/>
            </a:avLst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76" name="直线箭头连接符 75"/>
          <p:cNvCxnSpPr>
            <a:stCxn id="24" idx="3"/>
            <a:endCxn id="25" idx="1"/>
          </p:cNvCxnSpPr>
          <p:nvPr/>
        </p:nvCxnSpPr>
        <p:spPr>
          <a:xfrm>
            <a:off x="7048500" y="5524500"/>
            <a:ext cx="1047750" cy="0"/>
          </a:xfrm>
          <a:prstGeom prst="straightConnector1">
            <a:avLst/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77" name="直线箭头连接符 76"/>
          <p:cNvCxnSpPr>
            <a:stCxn id="25" idx="3"/>
            <a:endCxn id="26" idx="1"/>
          </p:cNvCxnSpPr>
          <p:nvPr/>
        </p:nvCxnSpPr>
        <p:spPr>
          <a:xfrm>
            <a:off x="9144000" y="5524500"/>
            <a:ext cx="666750" cy="0"/>
          </a:xfrm>
          <a:prstGeom prst="straightConnector1">
            <a:avLst/>
          </a:prstGeom>
          <a:ln w="19050">
            <a:solidFill>
              <a:srgbClr val="16A34A"/>
            </a:solidFill>
            <a:prstDash val="solid"/>
            <a:tailEnd type="triangle" w="sm" len="sm"/>
          </a:ln>
        </p:spPr>
      </p:cxnSp>
      <p:cxnSp>
        <p:nvCxnSpPr>
          <p:cNvPr id="78" name="肘形连接符 77"/>
          <p:cNvCxnSpPr>
            <a:cxnSpLocks/>
            <a:stCxn id="23" idx="1"/>
            <a:endCxn id="19" idx="2"/>
          </p:cNvCxnSpPr>
          <p:nvPr/>
        </p:nvCxnSpPr>
        <p:spPr>
          <a:xfrm rot="10800000">
            <a:off x="3000376" y="3543300"/>
            <a:ext cx="5073015" cy="815340"/>
          </a:xfrm>
          <a:prstGeom prst="bentConnector2">
            <a:avLst/>
          </a:prstGeom>
          <a:ln w="19050">
            <a:solidFill>
              <a:srgbClr val="DC2626"/>
            </a:solidFill>
            <a:prstDash val="dash"/>
            <a:tailEnd type="triangle" w="sm" len="sm"/>
          </a:ln>
        </p:spPr>
      </p:cxnSp>
      <p:cxnSp>
        <p:nvCxnSpPr>
          <p:cNvPr id="79" name="肘形连接符 78"/>
          <p:cNvCxnSpPr>
            <a:stCxn id="25" idx="2"/>
            <a:endCxn id="19" idx="2"/>
          </p:cNvCxnSpPr>
          <p:nvPr/>
        </p:nvCxnSpPr>
        <p:spPr>
          <a:xfrm flipH="1" flipV="1">
            <a:off x="3000375" y="3543300"/>
            <a:ext cx="5619750" cy="2400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C2626"/>
            </a:solidFill>
            <a:prstDash val="dash"/>
            <a:tailEnd type="triangle" w="sm" len="sm"/>
          </a:ln>
        </p:spPr>
      </p:cxnSp>
      <p:sp>
        <p:nvSpPr>
          <p:cNvPr id="38" name="audit-pass">
            <a:extLst>
              <a:ext uri="{FF2B5EF4-FFF2-40B4-BE49-F238E27FC236}">
                <a16:creationId xmlns:a16="http://schemas.microsoft.com/office/drawing/2014/main" id="{FE035513-65C1-439F-ACC6-1C15466065C5}"/>
              </a:ext>
            </a:extLst>
          </p:cNvPr>
          <p:cNvSpPr>
            <a:spLocks noGrp="1"/>
          </p:cNvSpPr>
          <p:nvPr/>
        </p:nvSpPr>
        <p:spPr>
          <a:xfrm>
            <a:off x="7524750" y="4772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通过</a:t>
            </a:r>
          </a:p>
        </p:txBody>
      </p:sp>
      <p:sp>
        <p:nvSpPr>
          <p:cNvPr id="39" name="audit-reject">
            <a:extLst>
              <a:ext uri="{FF2B5EF4-FFF2-40B4-BE49-F238E27FC236}">
                <a16:creationId xmlns:a16="http://schemas.microsoft.com/office/drawing/2014/main" id="{A5BC7FC2-6CDF-42D9-83B7-E0A8CD55BB01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驳回</a:t>
            </a:r>
          </a:p>
        </p:txBody>
      </p:sp>
      <p:sp>
        <p:nvSpPr>
          <p:cNvPr id="40" name="review-pass">
            <a:extLst>
              <a:ext uri="{FF2B5EF4-FFF2-40B4-BE49-F238E27FC236}">
                <a16:creationId xmlns:a16="http://schemas.microsoft.com/office/drawing/2014/main" id="{216A3113-8ED4-4533-8BEA-034D004ED884}"/>
              </a:ext>
            </a:extLst>
          </p:cNvPr>
          <p:cNvSpPr>
            <a:spLocks noGrp="1"/>
          </p:cNvSpPr>
          <p:nvPr/>
        </p:nvSpPr>
        <p:spPr>
          <a:xfrm>
            <a:off x="9220200" y="5286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通过</a:t>
            </a:r>
          </a:p>
        </p:txBody>
      </p:sp>
      <p:sp>
        <p:nvSpPr>
          <p:cNvPr id="41" name="review-reject">
            <a:extLst>
              <a:ext uri="{FF2B5EF4-FFF2-40B4-BE49-F238E27FC236}">
                <a16:creationId xmlns:a16="http://schemas.microsoft.com/office/drawing/2014/main" id="{B8007E71-F85D-460E-87AF-D574C2FF7EE3}"/>
              </a:ext>
            </a:extLst>
          </p:cNvPr>
          <p:cNvSpPr>
            <a:spLocks noGrp="1"/>
          </p:cNvSpPr>
          <p:nvPr/>
        </p:nvSpPr>
        <p:spPr>
          <a:xfrm>
            <a:off x="6667500" y="60960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defRPr sz="12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驳回</a:t>
            </a:r>
          </a:p>
        </p:txBody>
      </p:sp>
      <p:sp>
        <p:nvSpPr>
          <p:cNvPr id="42" name="closure-note">
            <a:extLst>
              <a:ext uri="{FF2B5EF4-FFF2-40B4-BE49-F238E27FC236}">
                <a16:creationId xmlns:a16="http://schemas.microsoft.com/office/drawing/2014/main" id="{C5586B4C-77D5-43C8-BF7B-066DBC0476D5}"/>
              </a:ext>
            </a:extLst>
          </p:cNvPr>
          <p:cNvSpPr>
            <a:spLocks noGrp="1"/>
          </p:cNvSpPr>
          <p:nvPr/>
        </p:nvSpPr>
        <p:spPr>
          <a:xfrm>
            <a:off x="1809750" y="6210300"/>
            <a:ext cx="8572500" cy="400050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14288">
            <a:solidFill>
              <a:srgbClr val="FCA5A5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闭环规则：主任审核或专家复查驳回，均退回“待整改”；整改责任人补充材料后重新提交。</a:t>
            </a:r>
          </a:p>
        </p:txBody>
      </p:sp>
      <p:cxnSp>
        <p:nvCxnSpPr>
          <p:cNvPr id="47" name="肘形连接符 46">
            <a:extLst>
              <a:ext uri="{FF2B5EF4-FFF2-40B4-BE49-F238E27FC236}">
                <a16:creationId xmlns:a16="http://schemas.microsoft.com/office/drawing/2014/main" id="{730BEBAF-1B34-9A01-8FE4-0B61D8C439EE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 rot="5400000">
            <a:off x="8679657" y="3722847"/>
            <a:ext cx="548640" cy="1895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3345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Macintosh PowerPoint</Application>
  <DocSecurity>0</DocSecurity>
  <PresentationFormat>宽屏</PresentationFormat>
  <Paragraphs>69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皓雪</cp:lastModifiedBy>
  <cp:revision>1</cp:revision>
  <dcterms:created xsi:type="dcterms:W3CDTF">2026-07-15T06:10:19Z</dcterms:created>
  <dcterms:modified xsi:type="dcterms:W3CDTF">2026-07-15T06:16:54Z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2026-07-15T06:16:54Z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64beca69-288b-4d44-9602-63f524f8bbaf</vt:lpwstr>
  </property>
  <property fmtid="{D5CDD505-2E9C-101B-9397-08002B2CF9AE}" pid="7" name="MSIP_Label_defa4170-0d19-0005-0004-bc88714345d2_ActionId">
    <vt:lpwstr>a27be344-8a1b-4428-a08d-cba2ede51264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